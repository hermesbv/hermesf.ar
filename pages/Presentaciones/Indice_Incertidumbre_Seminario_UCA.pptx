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7" r:id="rId4"/>
    <p:sldId id="262" r:id="rId5"/>
    <p:sldId id="263" r:id="rId6"/>
    <p:sldId id="264" r:id="rId7"/>
    <p:sldId id="265" r:id="rId8"/>
    <p:sldId id="266" r:id="rId9"/>
    <p:sldId id="274" r:id="rId10"/>
    <p:sldId id="275" r:id="rId11"/>
    <p:sldId id="272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Contribución al 1er componente (%)</c:v>
                </c:pt>
              </c:strCache>
            </c:strRef>
          </c:tx>
          <c:spPr>
            <a:solidFill>
              <a:srgbClr val="3C8B75"/>
            </a:solidFill>
            <a:effectLst/>
          </c:spPr>
          <c:invertIfNegative val="0"/>
          <c:dLbls>
            <c:delete val="1"/>
          </c:dLbls>
          <c:cat>
            <c:strRef>
              <c:f>Sheet1!$A$2:$A$16</c:f>
              <c:strCache>
                <c:ptCount val="15"/>
                <c:pt idx="0">
                  <c:v>Vol. dólar blue</c:v>
                </c:pt>
                <c:pt idx="1">
                  <c:v>Vol. BAIBAR</c:v>
                </c:pt>
                <c:pt idx="2">
                  <c:v>Google Trends</c:v>
                </c:pt>
                <c:pt idx="3">
                  <c:v>Vol. BADLAR</c:v>
                </c:pt>
                <c:pt idx="4">
                  <c:v>Incert. inflación</c:v>
                </c:pt>
                <c:pt idx="5">
                  <c:v>Vol. MERVAL (GK)</c:v>
                </c:pt>
                <c:pt idx="6">
                  <c:v>Inflación mensual</c:v>
                </c:pt>
                <c:pt idx="7">
                  <c:v>Confianza (CCI, inv.)</c:v>
                </c:pt>
                <c:pt idx="8">
                  <c:v>Vol. A3500</c:v>
                </c:pt>
                <c:pt idx="9">
                  <c:v>Brecha cambiaria</c:v>
                </c:pt>
                <c:pt idx="10">
                  <c:v>EMBI</c:v>
                </c:pt>
                <c:pt idx="11">
                  <c:v>Confianza (GCI, inv.)</c:v>
                </c:pt>
                <c:pt idx="12">
                  <c:v>VIX</c:v>
                </c:pt>
                <c:pt idx="13">
                  <c:v>Vol. EMBI</c:v>
                </c:pt>
                <c:pt idx="14">
                  <c:v>EPU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13.54</c:v>
                </c:pt>
                <c:pt idx="1">
                  <c:v>11.91</c:v>
                </c:pt>
                <c:pt idx="2">
                  <c:v>11.25</c:v>
                </c:pt>
                <c:pt idx="3">
                  <c:v>10.36</c:v>
                </c:pt>
                <c:pt idx="4">
                  <c:v>9.49</c:v>
                </c:pt>
                <c:pt idx="5">
                  <c:v>9.43</c:v>
                </c:pt>
                <c:pt idx="6">
                  <c:v>8.44</c:v>
                </c:pt>
                <c:pt idx="7">
                  <c:v>8.18</c:v>
                </c:pt>
                <c:pt idx="8">
                  <c:v>7.28</c:v>
                </c:pt>
                <c:pt idx="9">
                  <c:v>5.61</c:v>
                </c:pt>
                <c:pt idx="10">
                  <c:v>2.15</c:v>
                </c:pt>
                <c:pt idx="11">
                  <c:v>1.08</c:v>
                </c:pt>
                <c:pt idx="12">
                  <c:v>0.54</c:v>
                </c:pt>
                <c:pt idx="13">
                  <c:v>0.44</c:v>
                </c:pt>
                <c:pt idx="1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71-423A-B6C3-428C679AE6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incertidumbre (z-score)</c:v>
                </c:pt>
              </c:strCache>
            </c:strRef>
          </c:tx>
          <c:spPr>
            <a:ln w="28575" cap="flat">
              <a:solidFill>
                <a:srgbClr val="C1622D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Sheet1!$A$2:$A$46</c:f>
              <c:strCache>
                <c:ptCount val="45"/>
                <c:pt idx="0">
                  <c:v>2004-01</c:v>
                </c:pt>
                <c:pt idx="1">
                  <c:v>2004-07</c:v>
                </c:pt>
                <c:pt idx="2">
                  <c:v>2005-01</c:v>
                </c:pt>
                <c:pt idx="3">
                  <c:v>2005-07</c:v>
                </c:pt>
                <c:pt idx="4">
                  <c:v>2006-01</c:v>
                </c:pt>
                <c:pt idx="5">
                  <c:v>2006-07</c:v>
                </c:pt>
                <c:pt idx="6">
                  <c:v>2007-01</c:v>
                </c:pt>
                <c:pt idx="7">
                  <c:v>2007-07</c:v>
                </c:pt>
                <c:pt idx="8">
                  <c:v>2008-01</c:v>
                </c:pt>
                <c:pt idx="9">
                  <c:v>2008-07</c:v>
                </c:pt>
                <c:pt idx="10">
                  <c:v>2009-01</c:v>
                </c:pt>
                <c:pt idx="11">
                  <c:v>2009-07</c:v>
                </c:pt>
                <c:pt idx="12">
                  <c:v>2010-01</c:v>
                </c:pt>
                <c:pt idx="13">
                  <c:v>2010-07</c:v>
                </c:pt>
                <c:pt idx="14">
                  <c:v>2011-01</c:v>
                </c:pt>
                <c:pt idx="15">
                  <c:v>2011-07</c:v>
                </c:pt>
                <c:pt idx="16">
                  <c:v>2012-01</c:v>
                </c:pt>
                <c:pt idx="17">
                  <c:v>2012-07</c:v>
                </c:pt>
                <c:pt idx="18">
                  <c:v>2013-01</c:v>
                </c:pt>
                <c:pt idx="19">
                  <c:v>2013-07</c:v>
                </c:pt>
                <c:pt idx="20">
                  <c:v>2014-01</c:v>
                </c:pt>
                <c:pt idx="21">
                  <c:v>2014-07</c:v>
                </c:pt>
                <c:pt idx="22">
                  <c:v>2015-01</c:v>
                </c:pt>
                <c:pt idx="23">
                  <c:v>2015-07</c:v>
                </c:pt>
                <c:pt idx="24">
                  <c:v>2016-01</c:v>
                </c:pt>
                <c:pt idx="25">
                  <c:v>2016-07</c:v>
                </c:pt>
                <c:pt idx="26">
                  <c:v>2017-01</c:v>
                </c:pt>
                <c:pt idx="27">
                  <c:v>2017-07</c:v>
                </c:pt>
                <c:pt idx="28">
                  <c:v>2018-01</c:v>
                </c:pt>
                <c:pt idx="29">
                  <c:v>2018-07</c:v>
                </c:pt>
                <c:pt idx="30">
                  <c:v>2019-01</c:v>
                </c:pt>
                <c:pt idx="31">
                  <c:v>2019-07</c:v>
                </c:pt>
                <c:pt idx="32">
                  <c:v>2020-01</c:v>
                </c:pt>
                <c:pt idx="33">
                  <c:v>2020-07</c:v>
                </c:pt>
                <c:pt idx="34">
                  <c:v>2021-01</c:v>
                </c:pt>
                <c:pt idx="35">
                  <c:v>2021-07</c:v>
                </c:pt>
                <c:pt idx="36">
                  <c:v>2022-01</c:v>
                </c:pt>
                <c:pt idx="37">
                  <c:v>2022-07</c:v>
                </c:pt>
                <c:pt idx="38">
                  <c:v>2023-01</c:v>
                </c:pt>
                <c:pt idx="39">
                  <c:v>2023-07</c:v>
                </c:pt>
                <c:pt idx="40">
                  <c:v>2024-01</c:v>
                </c:pt>
                <c:pt idx="41">
                  <c:v>2024-07</c:v>
                </c:pt>
                <c:pt idx="42">
                  <c:v>2025-01</c:v>
                </c:pt>
                <c:pt idx="43">
                  <c:v>2025-07</c:v>
                </c:pt>
                <c:pt idx="44">
                  <c:v>2026-01</c:v>
                </c:pt>
              </c:strCache>
            </c:str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-0.85299999999999998</c:v>
                </c:pt>
                <c:pt idx="1">
                  <c:v>-1.343</c:v>
                </c:pt>
                <c:pt idx="2">
                  <c:v>-1.42</c:v>
                </c:pt>
                <c:pt idx="3">
                  <c:v>-1.1140000000000001</c:v>
                </c:pt>
                <c:pt idx="4">
                  <c:v>-1.345</c:v>
                </c:pt>
                <c:pt idx="5">
                  <c:v>-1.5589999999999999</c:v>
                </c:pt>
                <c:pt idx="6">
                  <c:v>-1.5569999999999999</c:v>
                </c:pt>
                <c:pt idx="7">
                  <c:v>-1.1240000000000001</c:v>
                </c:pt>
                <c:pt idx="8">
                  <c:v>-1.0129999999999999</c:v>
                </c:pt>
                <c:pt idx="9">
                  <c:v>-0.55100000000000005</c:v>
                </c:pt>
                <c:pt idx="10">
                  <c:v>8.5999999999999993E-2</c:v>
                </c:pt>
                <c:pt idx="11">
                  <c:v>-0.52600000000000002</c:v>
                </c:pt>
                <c:pt idx="12">
                  <c:v>-0.8</c:v>
                </c:pt>
                <c:pt idx="13">
                  <c:v>-1.117</c:v>
                </c:pt>
                <c:pt idx="14">
                  <c:v>-1.2110000000000001</c:v>
                </c:pt>
                <c:pt idx="15">
                  <c:v>-1.173</c:v>
                </c:pt>
                <c:pt idx="16">
                  <c:v>-0.65900000000000003</c:v>
                </c:pt>
                <c:pt idx="17">
                  <c:v>-0.31</c:v>
                </c:pt>
                <c:pt idx="18">
                  <c:v>-0.27</c:v>
                </c:pt>
                <c:pt idx="19">
                  <c:v>-1.4E-2</c:v>
                </c:pt>
                <c:pt idx="20">
                  <c:v>1.01</c:v>
                </c:pt>
                <c:pt idx="21">
                  <c:v>0.215</c:v>
                </c:pt>
                <c:pt idx="22">
                  <c:v>-3.1E-2</c:v>
                </c:pt>
                <c:pt idx="23">
                  <c:v>-3.5000000000000003E-2</c:v>
                </c:pt>
                <c:pt idx="24">
                  <c:v>0.52</c:v>
                </c:pt>
                <c:pt idx="25">
                  <c:v>-6.0000000000000001E-3</c:v>
                </c:pt>
                <c:pt idx="26">
                  <c:v>-0.45500000000000002</c:v>
                </c:pt>
                <c:pt idx="27">
                  <c:v>-0.21099999999999999</c:v>
                </c:pt>
                <c:pt idx="28">
                  <c:v>-3.4000000000000002E-2</c:v>
                </c:pt>
                <c:pt idx="29">
                  <c:v>0.71099999999999997</c:v>
                </c:pt>
                <c:pt idx="30">
                  <c:v>0.78200000000000003</c:v>
                </c:pt>
                <c:pt idx="31">
                  <c:v>0.19</c:v>
                </c:pt>
                <c:pt idx="32">
                  <c:v>0.32600000000000001</c:v>
                </c:pt>
                <c:pt idx="33">
                  <c:v>0.67400000000000004</c:v>
                </c:pt>
                <c:pt idx="34">
                  <c:v>0.60299999999999998</c:v>
                </c:pt>
                <c:pt idx="35">
                  <c:v>0.14199999999999999</c:v>
                </c:pt>
                <c:pt idx="36">
                  <c:v>0.55000000000000004</c:v>
                </c:pt>
                <c:pt idx="37">
                  <c:v>1.8080000000000001</c:v>
                </c:pt>
                <c:pt idx="38">
                  <c:v>1.415</c:v>
                </c:pt>
                <c:pt idx="39">
                  <c:v>1.228</c:v>
                </c:pt>
                <c:pt idx="40">
                  <c:v>2.6190000000000002</c:v>
                </c:pt>
                <c:pt idx="41">
                  <c:v>1.31</c:v>
                </c:pt>
                <c:pt idx="42">
                  <c:v>0.747</c:v>
                </c:pt>
                <c:pt idx="43">
                  <c:v>0.73299999999999998</c:v>
                </c:pt>
                <c:pt idx="44">
                  <c:v>0.97199999999999998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F4-4230-A524-AE1A052408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7280"/>
                    </a:solidFill>
                    <a:latin typeface="Arial"/>
                  </a:rPr>
                  <a:t>Desvíos estándar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425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Presentarse brevemente y anunciar el título y el foco de la charla: el índice, no el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agenda en voz alta; poner el énfasis en que la mayor parte del tiempo va al índice.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ÚNICA diapositiva dedicada al paper: presentar el hecho estilizado (49/50 meses) y el resultado central (coeficiente -153) como ejemplo de aplicación, sin profundizar en el modelo DSGE.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Detallar las 5 dimensiones y por qué se eligieron esas 15 series. Mencionar fuentes (BCRA, INDEC, Google Trends, Di Tella, FRED).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proceso PCA paso a paso, con la fórmula como apoyo visual, no como el centro de la explicación.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gráfico de contribuciones. Señalar que la variable de Google Trends pesa casi tanto como las volatilidades financieras: es el dato que conecta con la parte sociológica.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serie completa. Señalar los picos históricos (2008-09, 2013-14, 2018-19, 2020) y el nivel persistente alto desde 2018.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no es un único índice sino una familia de variantes con distintos chequeos de robustez, y aclarar cuáles de esas variantes se citan en el paper y cuáles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B243E-52E5-CBBA-7E7B-A573B0C28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E4A69-A77F-5525-C687-F57A4BD56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33600-A003-D632-228E-C2E76786F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no es un único índice sino una familia de variantes con distintos chequeos de robustez, y aclarar cuáles de esas variantes se citan en el paper y cuáles no.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6385E-555D-B134-3F28-DA08334E4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43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5F8A-9427-CDFE-2CB5-73478C4B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C5A83-75C9-40CD-4DDF-EF5D84962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64BDC-583A-710E-E36B-956641B48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ÚNICA diapositiva dedicada al paper: presentar el hecho estilizado (49/50 meses) y el resultado central (coeficiente -153) como ejemplo de aplicación, sin profundizar en el modelo DSGE.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5E4B7-7F8A-B763-1C67-4784EC2605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65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agradecimientos. Dejar tiempo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F325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2440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multidimensional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incertidumbre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al análisis de la Formación de Activos </a:t>
            </a:r>
            <a:r>
              <a:rPr lang="en-US" sz="1800" i="1" dirty="0" err="1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Externos</a:t>
            </a:r>
            <a:r>
              <a:rPr lang="en-US" sz="1800" i="1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800" i="1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</a:t>
            </a:r>
            <a:r>
              <a:rPr lang="en-US" sz="1800" i="1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debate </a:t>
            </a:r>
            <a:r>
              <a:rPr lang="en-US" sz="1800" i="1" dirty="0" err="1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epistemológico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Fernández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40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de Sociología (FSOC-UBA) · Coordinador de Datos Macro (IIEP-UBA)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43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investigación conjunta con Pablo J. Mira, Gabriel Montes Rojas y Fernando Toledo (IIEP-BAIRES, UBA-CONICET / UNLP)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138576"/>
          </a:xfrm>
          <a:prstGeom prst="roundRect">
            <a:avLst>
              <a:gd name="adj" fmla="val 2807"/>
            </a:avLst>
          </a:prstGeom>
          <a:solidFill>
            <a:srgbClr val="162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C8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64992" y="1920240"/>
            <a:ext cx="2606040" cy="2138576"/>
          </a:xfrm>
          <a:prstGeom prst="roundRect">
            <a:avLst>
              <a:gd name="adj" fmla="val 2807"/>
            </a:avLst>
          </a:prstGeom>
          <a:solidFill>
            <a:srgbClr val="F4F1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81344" y="1920240"/>
            <a:ext cx="2606040" cy="2138576"/>
          </a:xfrm>
          <a:prstGeom prst="roundRect">
            <a:avLst>
              <a:gd name="adj" fmla="val 2807"/>
            </a:avLst>
          </a:prstGeom>
          <a:solidFill>
            <a:srgbClr val="1622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82512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C8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97696" y="1920240"/>
            <a:ext cx="2606040" cy="2138576"/>
          </a:xfrm>
          <a:prstGeom prst="roundRect">
            <a:avLst>
              <a:gd name="adj" fmla="val 2807"/>
            </a:avLst>
          </a:prstGeom>
          <a:solidFill>
            <a:srgbClr val="F4F1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98864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788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Epistemología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"Dollars Left Untouched"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1040" y="174762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Mira, Montes Rojas, Toledo y Fernández (2026) usa Uₜ como variable explicativa de las ventas de dólares de los hogares argentinos.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1F32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8346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3C8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/ 50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con caída de actividad en los que la compra neta de dólares de las familias fue, aun así, </a:t>
            </a:r>
            <a:r>
              <a:rPr lang="en-US" sz="1250" dirty="0" err="1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2606040"/>
            <a:ext cx="5623560" cy="3291840"/>
          </a:xfrm>
          <a:prstGeom prst="roundRect">
            <a:avLst>
              <a:gd name="adj" fmla="val 2222"/>
            </a:avLst>
          </a:prstGeom>
          <a:solidFill>
            <a:srgbClr val="1F32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2834639"/>
            <a:ext cx="5120640" cy="20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−153 M USD (Ut/Venta U$S)</a:t>
            </a:r>
          </a:p>
          <a:p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−100 M USD (</a:t>
            </a:r>
            <a:r>
              <a:rPr lang="en-US" sz="2000" b="1" dirty="0" err="1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Apreciación</a:t>
            </a:r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TCR 10p log)</a:t>
            </a:r>
          </a:p>
          <a:p>
            <a:endParaRPr lang="en-US" sz="2000" b="1" dirty="0">
              <a:solidFill>
                <a:srgbClr val="C1622D"/>
              </a:solidFill>
              <a:latin typeface="Cambria" pitchFamily="34" charset="0"/>
              <a:ea typeface="Cambria" pitchFamily="34" charset="-122"/>
            </a:endParaRPr>
          </a:p>
          <a:p>
            <a:r>
              <a:rPr lang="en-US" sz="2000" b="1" dirty="0" err="1">
                <a:solidFill>
                  <a:srgbClr val="C1622D"/>
                </a:solidFill>
                <a:latin typeface="Cambria" pitchFamily="34" charset="0"/>
                <a:ea typeface="Cambria" pitchFamily="34" charset="-122"/>
              </a:rPr>
              <a:t>Cambios</a:t>
            </a:r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000" b="1" dirty="0" err="1">
                <a:solidFill>
                  <a:srgbClr val="C1622D"/>
                </a:solidFill>
                <a:latin typeface="Cambria" pitchFamily="34" charset="0"/>
                <a:ea typeface="Cambria" pitchFamily="34" charset="-122"/>
              </a:rPr>
              <a:t>regulatorios</a:t>
            </a:r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</a:rPr>
              <a:t> no </a:t>
            </a:r>
            <a:r>
              <a:rPr lang="en-US" sz="2000" b="1" dirty="0" err="1">
                <a:solidFill>
                  <a:srgbClr val="C1622D"/>
                </a:solidFill>
                <a:latin typeface="Cambria" pitchFamily="34" charset="0"/>
                <a:ea typeface="Cambria" pitchFamily="34" charset="-122"/>
              </a:rPr>
              <a:t>significativos</a:t>
            </a:r>
            <a:endParaRPr lang="en-US" sz="2000" b="1" dirty="0">
              <a:solidFill>
                <a:srgbClr val="C1622D"/>
              </a:solidFill>
              <a:latin typeface="Cambria" pitchFamily="34" charset="0"/>
              <a:ea typeface="Cambria" pitchFamily="34" charset="-122"/>
            </a:endParaRPr>
          </a:p>
          <a:p>
            <a:endParaRPr lang="en-US" sz="2000" b="1" dirty="0">
              <a:solidFill>
                <a:srgbClr val="C1622D"/>
              </a:solidFill>
              <a:latin typeface="Cambria" pitchFamily="34" charset="0"/>
              <a:ea typeface="Cambria" pitchFamily="34" charset="-122"/>
            </a:endParaRPr>
          </a:p>
          <a:p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</a:rPr>
              <a:t>Mal timing de </a:t>
            </a:r>
            <a:r>
              <a:rPr lang="en-US" sz="2000" b="1" dirty="0" err="1">
                <a:solidFill>
                  <a:srgbClr val="C1622D"/>
                </a:solidFill>
                <a:latin typeface="Cambria" pitchFamily="34" charset="0"/>
                <a:ea typeface="Cambria" pitchFamily="34" charset="-122"/>
              </a:rPr>
              <a:t>venta</a:t>
            </a:r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</a:rPr>
              <a:t> (ex-post)</a:t>
            </a:r>
          </a:p>
          <a:p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470916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i="1" dirty="0">
                <a:solidFill>
                  <a:srgbClr val="3C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incertidumbre (medida por este índice), menos ventas: el dólar retenido funciona como cobertura, no solo como ahorro líquido disponible.</a:t>
            </a:r>
            <a:endParaRPr lang="en-US" sz="1150" b="1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59B37B42-963D-C917-B113-67A6D4EA8F94}"/>
              </a:ext>
            </a:extLst>
          </p:cNvPr>
          <p:cNvSpPr txBox="1"/>
          <p:nvPr/>
        </p:nvSpPr>
        <p:spPr>
          <a:xfrm>
            <a:off x="868680" y="4663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</a:t>
            </a:r>
            <a:r>
              <a:rPr lang="en-US" sz="1250" dirty="0" err="1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</a:t>
            </a:r>
            <a:r>
              <a:rPr lang="en-US" sz="12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Riesgo </a:t>
            </a:r>
            <a:r>
              <a:rPr lang="en-US" sz="1250" dirty="0" err="1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cambiario</a:t>
            </a:r>
            <a:r>
              <a:rPr lang="en-US" sz="12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</a:t>
            </a:r>
            <a:r>
              <a:rPr lang="en-US" sz="12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ÍNDICE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dimensiones, quince series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162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estandarizadas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78308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3C8B7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temáticas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1622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38,8%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904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varianza explicada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el 1er componente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320040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3C8B7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6344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2004–2026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12480" y="1783080"/>
            <a:ext cx="3200400" cy="4572000"/>
          </a:xfrm>
          <a:prstGeom prst="roundRect">
            <a:avLst>
              <a:gd name="adj" fmla="val 2286"/>
            </a:avLst>
          </a:prstGeom>
          <a:solidFill>
            <a:srgbClr val="F4F1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dimensiones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4231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Condiciones macroeconómicas (inflación e incert. de inflación)</a:t>
            </a:r>
            <a:endParaRPr lang="en-US" sz="108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321868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Estrés cambiario (brecha, volatilidad del A3500 y del blue)</a:t>
            </a:r>
            <a:endParaRPr lang="en-US" sz="108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4014216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Volatilidad financiera (tasas, Merval, EMBI, VIX)</a:t>
            </a:r>
            <a:endParaRPr lang="en-US" sz="108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4809744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Confianza y política económica (CCI, GCI, EPU)</a:t>
            </a:r>
            <a:endParaRPr lang="en-US" sz="108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560527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Búsquedas de Google: ansiedad y decisiones económicas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CB1B161F-C662-15A2-2584-C58266AE273D}"/>
              </a:ext>
            </a:extLst>
          </p:cNvPr>
          <p:cNvSpPr/>
          <p:nvPr/>
        </p:nvSpPr>
        <p:spPr>
          <a:xfrm>
            <a:off x="2438400" y="4672584"/>
            <a:ext cx="3657600" cy="1234440"/>
          </a:xfrm>
          <a:prstGeom prst="roundRect">
            <a:avLst>
              <a:gd name="adj" fmla="val 4444"/>
            </a:avLst>
          </a:prstGeom>
          <a:solidFill>
            <a:schemeClr val="accent2">
              <a:lumMod val="50000"/>
            </a:schemeClr>
          </a:solidFill>
          <a:ln/>
        </p:spPr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12DD1DF-2F30-1AFA-F14F-FDDC272BB008}"/>
              </a:ext>
            </a:extLst>
          </p:cNvPr>
          <p:cNvSpPr txBox="1"/>
          <p:nvPr/>
        </p:nvSpPr>
        <p:spPr>
          <a:xfrm>
            <a:off x="2621280" y="4809744"/>
            <a:ext cx="3070393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Excluidas</a:t>
            </a:r>
            <a:r>
              <a:rPr lang="en-US" sz="150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WUIARG; REM; </a:t>
            </a:r>
            <a:r>
              <a:rPr lang="en-US" sz="1500" dirty="0" err="1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</a:t>
            </a: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(UCA); EPU (UDESA)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ÍNDICE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15 series a un número: el proceso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622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C8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75564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75564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serie se lleva a una forma comparable: logs, volatilidades rolling de 22 días, z-scores, un filtro UC-SV para la inflación esperada.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359152"/>
            <a:ext cx="0" cy="292608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622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C8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7614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76148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variable se estandariza con su propia media y desvío en la muestra completa 2004–2026 (268 observaciones). La construcción es retrospectiva.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364992"/>
            <a:ext cx="0" cy="292608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3794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622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C8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6732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76732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extrae el primer componente principal de la matriz de correlación de las 15 series estandarizadas.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370832"/>
            <a:ext cx="0" cy="292608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48006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622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C8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7731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Orientar y re-estandarizar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477316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signo del autovector se orienta para que valores más altos = más incertidumbre. Se re-normaliza a media 0, desvío 1.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PC1t = Σ v</a:t>
            </a:r>
            <a:r>
              <a:rPr lang="en-US" sz="900" b="1" dirty="0">
                <a:solidFill>
                  <a:srgbClr val="162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j1</a:t>
            </a:r>
            <a:r>
              <a:rPr lang="en-US" sz="1400" b="1" dirty="0">
                <a:solidFill>
                  <a:srgbClr val="162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</a:t>
            </a:r>
            <a:r>
              <a:rPr lang="en-US" sz="900" b="1" dirty="0">
                <a:solidFill>
                  <a:srgbClr val="162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los 15 coeficientes tienen el mismo signo (positivo)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ÍNDICE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62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Contribuciones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5895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36676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Contribuciónⱼ = 100 · v²ⱼ₁ (suman 100 por construcción)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366760" y="2606040"/>
            <a:ext cx="3291840" cy="2560320"/>
          </a:xfrm>
          <a:prstGeom prst="roundRect">
            <a:avLst>
              <a:gd name="adj" fmla="val 2143"/>
            </a:avLst>
          </a:prstGeom>
          <a:solidFill>
            <a:srgbClr val="F4F1E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9536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108960"/>
            <a:ext cx="2880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volatilidad cambiaria y financiera domina, pero Google Trends pesa casi tanto como la volatilidad de tasas — la búsqueda de "ansiedad" y "qué va a pasar" entra con peso propio, no como decoración del índice.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ÍNDICE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serie: Uₜ, 2004–2026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110642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en 2008-09, 2013-14, 2018-19 y 2020, y niveles elevados y persistentes desde 2018. Fuente: hoja PCA 15var, elaboración propia.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ÍNDICE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62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Otras</a:t>
            </a:r>
            <a:r>
              <a:rPr lang="en-US" sz="3200" b="1" dirty="0">
                <a:solidFill>
                  <a:srgbClr val="162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162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1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ódigo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9264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F4F1E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75688"/>
            <a:ext cx="164592" cy="164592"/>
          </a:xfrm>
          <a:prstGeom prst="ellipse">
            <a:avLst/>
          </a:prstGeom>
          <a:solidFill>
            <a:srgbClr val="3C8B7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1837944"/>
            <a:ext cx="2514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· 15 variables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1837944"/>
            <a:ext cx="2606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15var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37944"/>
            <a:ext cx="3108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38,8%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1837944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46769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F4F1EA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139377"/>
            <a:ext cx="164592" cy="164592"/>
          </a:xfrm>
          <a:prstGeom prst="ellipse">
            <a:avLst/>
          </a:prstGeom>
          <a:solidFill>
            <a:srgbClr val="1622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901633"/>
            <a:ext cx="2514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Reducido · 10 variables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2901633"/>
            <a:ext cx="2606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Redux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901633"/>
            <a:ext cx="3108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VIX, EMBI (nivel y vol.), EPU, vol. Merval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2901633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0,988 vs. principal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F4F1E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142232"/>
            <a:ext cx="164592" cy="164592"/>
          </a:xfrm>
          <a:prstGeom prst="ellipse">
            <a:avLst/>
          </a:prstGeom>
          <a:solidFill>
            <a:srgbClr val="1622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3904488"/>
            <a:ext cx="2514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Reducido, sin inflación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904488"/>
            <a:ext cx="2606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Redux · col. 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904488"/>
            <a:ext cx="3108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PC1_sin_IPC_control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3904488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0,994 vs. reducido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919472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F4F1EA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5212080"/>
            <a:ext cx="164592" cy="164592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05840" y="4974336"/>
            <a:ext cx="2514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control de Google Trends · 12 variables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657600" y="4974336"/>
            <a:ext cx="2606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GT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692640" y="5422392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0D777-C710-8EA3-2963-01A04124C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1C4A69-9A18-60D9-3E3D-CA939C7D5558}"/>
              </a:ext>
            </a:extLst>
          </p:cNvPr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 FUTURO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A04C87-322F-DF61-FD18-2ED3FC030ECC}"/>
              </a:ext>
            </a:extLst>
          </p:cNvPr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Falta…</a:t>
            </a:r>
            <a:endParaRPr lang="en-US" sz="3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4D523C-83FC-9638-4E3D-FBB49CB8C558}"/>
              </a:ext>
            </a:extLst>
          </p:cNvPr>
          <p:cNvSpPr txBox="1"/>
          <p:nvPr/>
        </p:nvSpPr>
        <p:spPr>
          <a:xfrm>
            <a:off x="969264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70A956E-2987-A044-70AF-4EFE7DD1A91C}"/>
              </a:ext>
            </a:extLst>
          </p:cNvPr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F4F1EA"/>
          </a:solidFill>
          <a:ln/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F301B31-B072-A556-7DF5-250CBA8B5FAD}"/>
              </a:ext>
            </a:extLst>
          </p:cNvPr>
          <p:cNvSpPr/>
          <p:nvPr/>
        </p:nvSpPr>
        <p:spPr>
          <a:xfrm>
            <a:off x="548640" y="2846769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F4F1EA"/>
          </a:solidFill>
          <a:ln/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87EB88B-3F05-7D7F-B927-BF953344F4D8}"/>
              </a:ext>
            </a:extLst>
          </p:cNvPr>
          <p:cNvSpPr/>
          <p:nvPr/>
        </p:nvSpPr>
        <p:spPr>
          <a:xfrm>
            <a:off x="548640" y="3849624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F4F1EA"/>
          </a:solidFill>
          <a:ln/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7E16C87-9DA2-E5FC-034F-C7DF075E9D7C}"/>
              </a:ext>
            </a:extLst>
          </p:cNvPr>
          <p:cNvSpPr/>
          <p:nvPr/>
        </p:nvSpPr>
        <p:spPr>
          <a:xfrm>
            <a:off x="548640" y="4919472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F4F1EA"/>
          </a:solidFill>
          <a:ln/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BD7C1DF-0DBE-CF5A-310F-279FDAD799D0}"/>
              </a:ext>
            </a:extLst>
          </p:cNvPr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C97741BF-E5F7-BAC8-7DC9-FF4A5BCF33DE}"/>
              </a:ext>
            </a:extLst>
          </p:cNvPr>
          <p:cNvSpPr txBox="1"/>
          <p:nvPr/>
        </p:nvSpPr>
        <p:spPr>
          <a:xfrm>
            <a:off x="701040" y="1746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500" b="1" dirty="0">
                <a:solidFill>
                  <a:srgbClr val="16223C"/>
                </a:solidFill>
                <a:latin typeface="Cambria" pitchFamily="34" charset="0"/>
                <a:ea typeface="Cambria" pitchFamily="34" charset="-122"/>
              </a:rPr>
              <a:t>C</a:t>
            </a:r>
            <a:r>
              <a:rPr lang="en-US" sz="2500" b="1" dirty="0" err="1">
                <a:solidFill>
                  <a:srgbClr val="16223C"/>
                </a:solidFill>
                <a:latin typeface="Cambria" pitchFamily="34" charset="0"/>
                <a:ea typeface="Cambria" pitchFamily="34" charset="-122"/>
              </a:rPr>
              <a:t>ontroles</a:t>
            </a:r>
            <a:r>
              <a:rPr lang="en-US" sz="2500" b="1" dirty="0">
                <a:solidFill>
                  <a:srgbClr val="16223C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500" b="1" dirty="0" err="1">
                <a:solidFill>
                  <a:srgbClr val="16223C"/>
                </a:solidFill>
                <a:latin typeface="Cambria" pitchFamily="34" charset="0"/>
                <a:ea typeface="Cambria" pitchFamily="34" charset="-122"/>
              </a:rPr>
              <a:t>por</a:t>
            </a:r>
            <a:r>
              <a:rPr lang="en-US" sz="2500" b="1" dirty="0">
                <a:solidFill>
                  <a:srgbClr val="16223C"/>
                </a:solidFill>
                <a:latin typeface="Cambria" pitchFamily="34" charset="0"/>
                <a:ea typeface="Cambria" pitchFamily="34" charset="-122"/>
              </a:rPr>
              <a:t> region/global</a:t>
            </a:r>
            <a:endParaRPr lang="en-US" sz="250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37B2BF29-08A6-E989-6A62-37224FEDA6DE}"/>
              </a:ext>
            </a:extLst>
          </p:cNvPr>
          <p:cNvSpPr txBox="1"/>
          <p:nvPr/>
        </p:nvSpPr>
        <p:spPr>
          <a:xfrm>
            <a:off x="701040" y="2823909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500" b="1" dirty="0">
                <a:solidFill>
                  <a:srgbClr val="16223C"/>
                </a:solidFill>
                <a:latin typeface="Cambria" pitchFamily="34" charset="0"/>
                <a:ea typeface="Cambria" pitchFamily="34" charset="-122"/>
              </a:rPr>
              <a:t>Profundizar metodología aspecto cualitativo</a:t>
            </a:r>
            <a:endParaRPr lang="en-US" sz="25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14C60A8A-A936-1827-504B-AA16B43F81E5}"/>
              </a:ext>
            </a:extLst>
          </p:cNvPr>
          <p:cNvSpPr txBox="1"/>
          <p:nvPr/>
        </p:nvSpPr>
        <p:spPr>
          <a:xfrm>
            <a:off x="701040" y="38039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500" b="1" dirty="0">
                <a:solidFill>
                  <a:srgbClr val="16223C"/>
                </a:solidFill>
                <a:latin typeface="Cambria" pitchFamily="34" charset="0"/>
                <a:ea typeface="Cambria" pitchFamily="34" charset="-122"/>
              </a:rPr>
              <a:t>Nuevos subíndices posibles</a:t>
            </a:r>
            <a:endParaRPr lang="en-US" sz="2500" dirty="0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A49762F8-0BAE-1741-424C-2D0D527D82EA}"/>
              </a:ext>
            </a:extLst>
          </p:cNvPr>
          <p:cNvSpPr txBox="1"/>
          <p:nvPr/>
        </p:nvSpPr>
        <p:spPr>
          <a:xfrm>
            <a:off x="701040" y="4910453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500" b="1" dirty="0">
                <a:solidFill>
                  <a:srgbClr val="16223C"/>
                </a:solidFill>
                <a:latin typeface="Cambria" pitchFamily="34" charset="0"/>
                <a:ea typeface="Cambria" pitchFamily="34" charset="-122"/>
              </a:rPr>
              <a:t>Diálogo con propuestas similares locales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52551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1D4EC-6B82-EE09-B6F2-63E8013E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A4827D4-BAE3-67A2-93DF-D4857EBBD9E8}"/>
              </a:ext>
            </a:extLst>
          </p:cNvPr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"Dollars Left Untouched"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B8975EB-03A2-1EA8-8A0B-1C45CD153236}"/>
              </a:ext>
            </a:extLst>
          </p:cNvPr>
          <p:cNvSpPr/>
          <p:nvPr/>
        </p:nvSpPr>
        <p:spPr>
          <a:xfrm>
            <a:off x="-207139" y="-108935"/>
            <a:ext cx="12570200" cy="7075870"/>
          </a:xfrm>
          <a:prstGeom prst="roundRect">
            <a:avLst>
              <a:gd name="adj" fmla="val 2222"/>
            </a:avLst>
          </a:prstGeom>
          <a:solidFill>
            <a:srgbClr val="1F3252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72F585-7AFD-EC8F-B7A0-131BE1268817}"/>
              </a:ext>
            </a:extLst>
          </p:cNvPr>
          <p:cNvSpPr txBox="1"/>
          <p:nvPr/>
        </p:nvSpPr>
        <p:spPr>
          <a:xfrm>
            <a:off x="2010280" y="2813249"/>
            <a:ext cx="813536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</a:t>
            </a:r>
            <a:r>
              <a:rPr lang="en-US" sz="46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incertidumbre</a:t>
            </a: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las CCSS</a:t>
            </a:r>
            <a:endParaRPr lang="en-US" sz="4600" dirty="0">
              <a:solidFill>
                <a:schemeClr val="bg1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CBD91F5-EE34-E86A-28F1-B503AF5A34C7}"/>
              </a:ext>
            </a:extLst>
          </p:cNvPr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01084FDA-19BA-5781-5E1D-235638D27287}"/>
              </a:ext>
            </a:extLst>
          </p:cNvPr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Debate </a:t>
            </a:r>
            <a:r>
              <a:rPr lang="en-US" sz="1200" b="1" kern="0" spc="200" dirty="0" err="1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epistemológico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05846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F32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Gracias!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D481E0E-4E17-66E6-9BA7-B6FFB2C7D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814" y="1444534"/>
            <a:ext cx="4060371" cy="40603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968</Words>
  <Application>Microsoft Office PowerPoint</Application>
  <PresentationFormat>Panorámica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Hermes Fernández</cp:lastModifiedBy>
  <cp:revision>3</cp:revision>
  <dcterms:created xsi:type="dcterms:W3CDTF">2026-09-22T22:24:54Z</dcterms:created>
  <dcterms:modified xsi:type="dcterms:W3CDTF">2026-09-23T14:47:12Z</dcterms:modified>
</cp:coreProperties>
</file>